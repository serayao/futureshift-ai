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A39D"/>
                </a:solidFill>
                <a:latin typeface="Aptos"/>
              </a:defRPr>
            </a:pPr>
            <a:r>
              <a:t>DOMAIN 1 · AIVERSECITY FUTURE-READY WORKFORCE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 b="1">
                <a:solidFill>
                  <a:srgbClr val="122C41"/>
                </a:solidFill>
                <a:latin typeface="Aptos"/>
              </a:defRPr>
            </a:pPr>
            <a:r>
              <a:t>FutureShift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536777"/>
                </a:solidFill>
                <a:latin typeface="Aptos"/>
              </a:defRPr>
            </a:pPr>
            <a:r>
              <a:t>FISHTAIL  /  FUTURESHIFT AI  /  SDC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00A39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22C41"/>
                </a:solidFill>
                <a:latin typeface="Aptos"/>
              </a:defRPr>
            </a:pPr>
            <a:r>
              <a:t>Explainable career pathways for an AI-shaped workforce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536777"/>
                </a:solidFill>
                <a:latin typeface="Aptos"/>
              </a:defRPr>
            </a:pPr>
            <a:r>
              <a:t>Team Fishtail  ·  Xiamen University Malaysia</a:t>
            </a:r>
          </a:p>
          <a:p>
            <a:pPr>
              <a:spcAft>
                <a:spcPts val="1400"/>
              </a:spcAft>
              <a:defRPr sz="2100" b="0">
                <a:solidFill>
                  <a:srgbClr val="536777"/>
                </a:solidFill>
                <a:latin typeface="Aptos"/>
              </a:defRPr>
            </a:pPr>
            <a:r>
              <a:t>SDG 4.4 — Skills for employment and decent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A39D"/>
                </a:solidFill>
                <a:latin typeface="Aptos"/>
              </a:defRPr>
            </a:pPr>
            <a:r>
              <a:t>PROBLEM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 b="1">
                <a:solidFill>
                  <a:srgbClr val="122C41"/>
                </a:solidFill>
                <a:latin typeface="Aptos"/>
              </a:defRPr>
            </a:pPr>
            <a:r>
              <a:t>The gap: AI adoption outpaces 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536777"/>
                </a:solidFill>
                <a:latin typeface="Aptos"/>
              </a:defRPr>
            </a:pPr>
            <a:r>
              <a:t>FISHTAIL  /  FUTURESHIFT AI  /  SDC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00A39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3291840"/>
          </a:xfrm>
          <a:prstGeom prst="roundRect">
            <a:avLst/>
          </a:prstGeom>
          <a:solidFill>
            <a:srgbClr val="EEF8F8"/>
          </a:solidFill>
          <a:ln>
            <a:solidFill>
              <a:srgbClr val="D5E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122C41"/>
                </a:solidFill>
                <a:latin typeface="Aptos"/>
              </a:defRPr>
            </a:pPr>
            <a:r>
              <a:t>56%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70632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536777"/>
                </a:solidFill>
                <a:latin typeface="Aptos"/>
              </a:defRPr>
            </a:pPr>
            <a:r>
              <a:t>Malaysian professionals reportedly use AI tools (Domain 1 brief).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3291840"/>
          </a:xfrm>
          <a:prstGeom prst="roundRect">
            <a:avLst/>
          </a:prstGeom>
          <a:solidFill>
            <a:srgbClr val="EEF8F8"/>
          </a:solidFill>
          <a:ln>
            <a:solidFill>
              <a:srgbClr val="D5E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2128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122C41"/>
                </a:solidFill>
                <a:latin typeface="Aptos"/>
              </a:defRPr>
            </a:pPr>
            <a:r>
              <a:t>26%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70632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536777"/>
                </a:solidFill>
                <a:latin typeface="Aptos"/>
              </a:defRPr>
            </a:pPr>
            <a:r>
              <a:t>Have reportedly received formal AI training (Domain 1 brief).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2C41"/>
                </a:solidFill>
                <a:latin typeface="Aptos"/>
              </a:defRPr>
            </a:pPr>
            <a:r>
              <a:t>People need credible adjacent careers — and a concrete way to reskill.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A39D"/>
                </a:solidFill>
                <a:latin typeface="Aptos"/>
              </a:defRPr>
            </a:pPr>
            <a:r>
              <a:t>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 b="1">
                <a:solidFill>
                  <a:srgbClr val="122C41"/>
                </a:solidFill>
                <a:latin typeface="Aptos"/>
              </a:defRPr>
            </a:pPr>
            <a:r>
              <a:t>From profile to actionable pathway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536777"/>
                </a:solidFill>
                <a:latin typeface="Aptos"/>
              </a:defRPr>
            </a:pPr>
            <a:r>
              <a:t>FISHTAIL  /  FUTURESHIFT AI  /  SDC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00A39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611880" cy="3291840"/>
          </a:xfrm>
          <a:prstGeom prst="roundRect">
            <a:avLst/>
          </a:prstGeom>
          <a:solidFill>
            <a:srgbClr val="EEF8F8"/>
          </a:solidFill>
          <a:ln>
            <a:solidFill>
              <a:srgbClr val="D5E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5856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122C41"/>
                </a:solidFill>
                <a:latin typeface="Aptos"/>
              </a:defRPr>
            </a:pPr>
            <a:r>
              <a:t>01 ·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16352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536777"/>
                </a:solidFill>
                <a:latin typeface="Aptos"/>
              </a:defRPr>
            </a:pPr>
            <a:r>
              <a:t>Questionnaire; optional consent-based CV 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057400"/>
            <a:ext cx="3611880" cy="3291840"/>
          </a:xfrm>
          <a:prstGeom prst="roundRect">
            <a:avLst/>
          </a:prstGeom>
          <a:solidFill>
            <a:srgbClr val="EEF8F8"/>
          </a:solidFill>
          <a:ln>
            <a:solidFill>
              <a:srgbClr val="D5E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25856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122C41"/>
                </a:solidFill>
                <a:latin typeface="Aptos"/>
              </a:defRPr>
            </a:pPr>
            <a:r>
              <a:t>02 · Explore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16352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536777"/>
                </a:solidFill>
                <a:latin typeface="Aptos"/>
              </a:defRPr>
            </a:pPr>
            <a:r>
              <a:t>Six eligible O*NET careers with explainable fit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057400"/>
            <a:ext cx="3611880" cy="3291840"/>
          </a:xfrm>
          <a:prstGeom prst="roundRect">
            <a:avLst/>
          </a:prstGeom>
          <a:solidFill>
            <a:srgbClr val="EEF8F8"/>
          </a:solidFill>
          <a:ln>
            <a:solidFill>
              <a:srgbClr val="D5E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25856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122C41"/>
                </a:solidFill>
                <a:latin typeface="Aptos"/>
              </a:defRPr>
            </a:pPr>
            <a:r>
              <a:t>03 · 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816352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536777"/>
                </a:solidFill>
                <a:latin typeface="Aptos"/>
              </a:defRPr>
            </a:pPr>
            <a:r>
              <a:t>SDG scenarios + personalized four-week learning 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A39D"/>
                </a:solidFill>
                <a:latin typeface="Aptos"/>
              </a:defRPr>
            </a:pPr>
            <a:r>
              <a:t>ARCHITECTURE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 b="1">
                <a:solidFill>
                  <a:srgbClr val="122C41"/>
                </a:solidFill>
                <a:latin typeface="Aptos"/>
              </a:defRPr>
            </a:pPr>
            <a:r>
              <a:t>Trustworthy AI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536777"/>
                </a:solidFill>
                <a:latin typeface="Aptos"/>
              </a:defRPr>
            </a:pPr>
            <a:r>
              <a:t>FISHTAIL  /  FUTURESHIFT AI  /  SDC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00A39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394960" cy="3474720"/>
          </a:xfrm>
          <a:prstGeom prst="roundRect">
            <a:avLst/>
          </a:prstGeom>
          <a:solidFill>
            <a:srgbClr val="EEF8F8"/>
          </a:solidFill>
          <a:ln>
            <a:solidFill>
              <a:srgbClr val="D5E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122C41"/>
                </a:solidFill>
                <a:latin typeface="Aptos"/>
              </a:defRPr>
            </a:pPr>
            <a:r>
              <a:t>Deterministic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24912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536777"/>
                </a:solidFill>
                <a:latin typeface="Aptos"/>
              </a:defRPr>
            </a:pPr>
            <a:r>
              <a:t>O*NET 31.0 fit scoring; local SDG and learning catalogues. BLS US projections shown separately where mappings are exact.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303520" cy="3474720"/>
          </a:xfrm>
          <a:prstGeom prst="roundRect">
            <a:avLst/>
          </a:prstGeom>
          <a:solidFill>
            <a:srgbClr val="EEF8F8"/>
          </a:solidFill>
          <a:ln>
            <a:solidFill>
              <a:srgbClr val="D5E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671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122C41"/>
                </a:solidFill>
                <a:latin typeface="Aptos"/>
              </a:defRPr>
            </a:pPr>
            <a:r>
              <a:t>Narrow, optional generative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24912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536777"/>
                </a:solidFill>
                <a:latin typeface="Aptos"/>
              </a:defRPr>
            </a:pPr>
            <a:r>
              <a:t>RunPod + Qwen/Qwen3-8B extracts candidate CV fields only. Users review results; the model does not rank careers.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22C41"/>
                </a:solidFill>
                <a:latin typeface="Aptos"/>
              </a:defRPr>
            </a:pPr>
            <a:r>
              <a:t>Streamlit on Replit · English / Chinese / Malay · Core workflow works without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A39D"/>
                </a:solidFill>
                <a:latin typeface="Aptos"/>
              </a:defRPr>
            </a:pPr>
            <a:r>
              <a:t>LIVE PRODUCT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 b="1">
                <a:solidFill>
                  <a:srgbClr val="122C41"/>
                </a:solidFill>
                <a:latin typeface="Aptos"/>
              </a:defRPr>
            </a:pPr>
            <a:r>
              <a:t>A usable prototype, not just an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536777"/>
                </a:solidFill>
                <a:latin typeface="Aptos"/>
              </a:defRPr>
            </a:pPr>
            <a:r>
              <a:t>FISHTAIL  /  FUTURESHIFT AI  /  SDC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00A39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1">
                <a:solidFill>
                  <a:srgbClr val="00A39D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122C41"/>
                </a:solidFill>
                <a:latin typeface="Aptos"/>
              </a:defRPr>
            </a:pPr>
            <a:r>
              <a:t>1. Create a skills profile with the questionnaire</a:t>
            </a:r>
          </a:p>
          <a:p>
            <a:pPr>
              <a:spcAft>
                <a:spcPts val="1400"/>
              </a:spcAft>
              <a:defRPr sz="2200" b="0">
                <a:solidFill>
                  <a:srgbClr val="122C41"/>
                </a:solidFill>
                <a:latin typeface="Aptos"/>
              </a:defRPr>
            </a:pPr>
            <a:r>
              <a:t>2. Inspect a career fit explanation and its evidence limits</a:t>
            </a:r>
          </a:p>
          <a:p>
            <a:pPr>
              <a:spcAft>
                <a:spcPts val="1400"/>
              </a:spcAft>
              <a:defRPr sz="2200" b="0">
                <a:solidFill>
                  <a:srgbClr val="122C41"/>
                </a:solidFill>
                <a:latin typeface="Aptos"/>
              </a:defRPr>
            </a:pPr>
            <a:r>
              <a:t>3. Select a pathway and generate a four-week plan</a:t>
            </a:r>
          </a:p>
          <a:p>
            <a:pPr>
              <a:spcAft>
                <a:spcPts val="1400"/>
              </a:spcAft>
              <a:defRPr sz="2200" b="0">
                <a:solidFill>
                  <a:srgbClr val="122C41"/>
                </a:solidFill>
                <a:latin typeface="Aptos"/>
              </a:defRPr>
            </a:pPr>
            <a:r>
              <a:t>4. Review SDG contribution and language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A39D"/>
                </a:solidFill>
                <a:latin typeface="Aptos"/>
              </a:defRPr>
            </a:pPr>
            <a:r>
              <a:t>futureshift-ai.replit.app  |  github.com/SeraYao/futureshift-ai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A39D"/>
                </a:solidFill>
                <a:latin typeface="Aptos"/>
              </a:defRPr>
            </a:pPr>
            <a:r>
              <a:t>SDG IMPACT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 b="1">
                <a:solidFill>
                  <a:srgbClr val="122C41"/>
                </a:solidFill>
                <a:latin typeface="Aptos"/>
              </a:defRPr>
            </a:pPr>
            <a:r>
              <a:t>Measure usability, then improve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536777"/>
                </a:solidFill>
                <a:latin typeface="Aptos"/>
              </a:defRPr>
            </a:pPr>
            <a:r>
              <a:t>FISHTAIL  /  FUTURESHIFT AI  /  SDC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00A39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3383280"/>
          </a:xfrm>
          <a:prstGeom prst="roundRect">
            <a:avLst/>
          </a:prstGeom>
          <a:solidFill>
            <a:srgbClr val="EEF8F8"/>
          </a:solidFill>
          <a:ln>
            <a:solidFill>
              <a:srgbClr val="D5E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122C41"/>
                </a:solidFill>
                <a:latin typeface="Aptos"/>
              </a:defRPr>
            </a:pPr>
            <a:r>
              <a:t>Primary SDG: 4.4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70632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536777"/>
                </a:solidFill>
                <a:latin typeface="Aptos"/>
              </a:defRPr>
            </a:pPr>
            <a:r>
              <a:t>Relevant technical and vocational skills for employment. Supporting links: SDG 8.2 and 8.5.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3383280"/>
          </a:xfrm>
          <a:prstGeom prst="roundRect">
            <a:avLst/>
          </a:prstGeom>
          <a:solidFill>
            <a:srgbClr val="EEF8F8"/>
          </a:solidFill>
          <a:ln>
            <a:solidFill>
              <a:srgbClr val="D5E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2128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122C41"/>
                </a:solidFill>
                <a:latin typeface="Aptos"/>
              </a:defRPr>
            </a:pPr>
            <a:r>
              <a:t>Phase 2 target — not yet achieved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70632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536777"/>
                </a:solidFill>
                <a:latin typeface="Aptos"/>
              </a:defRPr>
            </a:pPr>
            <a:r>
              <a:t>≥80% of consenting pilot users complete the profile-to-plan journey within five minutes.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22C41"/>
                </a:solidFill>
                <a:latin typeface="Aptos"/>
              </a:defRPr>
            </a:pPr>
            <a:r>
              <a:t>Next: synthetic-profile checks, consented usability testing, mobile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